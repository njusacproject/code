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！过去几周，我们在白板上推导出了SAC算法极其优美的数学框架。而我的工作，就是把这些写在纸上的公式，变成能在GPU上跑起来的代码。今天我不想一上来就讲代码和Bug。我想先给大家讲一个“分照片”的故事，讲讲电脑是怎么笨笨地给图片分类的，我们为什么要请大模型当外援，以及在这个过程中，我踩了哪些数学公式里永远不会写的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所有纯视觉聚类算法绕不开的坎。电脑再聪明，也变不出图像里没有的语义。它只能看到像素的相似性，看不到我们人类理解的“是什么”。这个问题在细粒度场景下会被无限放大。比如让电脑区分15种不同品种的狗，纯视觉方法基本就是瞎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为了解决这个问题，科学家们想了很多办法。直到大模型出现，大家才突然想到：我们为什么不直接请一个真正能看懂图、会说话的外援呢？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SAC算法最聪明的地方。它没有重新发明一个聚类算法，而是请了BLIP-2这个外援。给它一张金毛的照片，它会输出“一只长着黄色长毛和下垂耳朵的金毛寻回犬”。这样一来，我们就有了两个描述同一张图的视角：一个是眼睛看到的视觉视角，一个是大脑理解的语义视角。两个视角互相补充，就能解决纯视觉的语义缺失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LM虽然厉害，但它不是神，也会生成错误的描述。如果我们不加分辨地相信VLM的所有输出，这些错误的描述就会变成“毒药”，把整个聚类结果带偏。所以SAC必须解决第二个核心问题：怎么自动分辨VLM说的话是对是错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整篇论文最巧妙的地方。它没有去直接判断文本描述对不对，而是通过看两个朋友圈的重合度来间接判断。如果一张图的文本描述是准确的，那么它在文本空间的朋友，对应的图像在视觉空间也应该是它的朋友。这个逻辑非常朴素，但极其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有了每个样本的"靠谱程度分"，接下来就是怎么用这个分数来训练模型。传统的对比学习是"所有样本一视同仁"，而SAC的对比学习是"看人下菜碟"：靠谱的样本多说话，不靠谱的少说话。这样一来，VLM生成的错误描述，就会自动被边缘化，不会带偏整个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现在我们回到现实。公式里一个O(N²)的复杂度，在现实世界里，就意味着我们要直面GPU的显存墙。为了控制成本，我选择了AutoDL平台，但很快发现，在大模型时代，好的显卡就像春运的火车票。我不得不写脚本半夜去抢机器，并且把代码拆分成不同模块，才能让咱们的实验跑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概念搞懂了，但实际写成代码全都是坑。我接手的历史代码里，最大的问题就是“张量广播灾难”。在数学里，维度不对根本算不了，但在Python里，它会悄悄地自动匹配维度，然后算出一个完全错误的结果。为了解决这个问题，我只能像侦探一样，逐行审计代码，确保每一个张量的形状都和论文里的公式严丝合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大家推导的所有数学公式，最终都落地到了这四个文件里。其中`loss_utils.py`是最核心的，你们在白板上写的每一个损失函数，我都在这里一行一行地实现了出来。每个文件只负责单一职责，逻辑非常清晰。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当我看到这个结果的时候，我以为一切都结束了。但很快我就发现，这只是开始。真正的考验，在后面。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结果给了我当头一棒。同样的代码，同样的参数，为什么在STL-10上能跑98分，在狗的数据集上就只能跑36分？我花了整整一周时间排查问题，最后发现，论文里有两个隐藏的假设，在细粒度少样本场景下完全不成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第一个问题出在K值上。论文推荐的K=20，在样本充足的STL-10上没问题。但在狗的数据集上，找20个最近邻，必然会把其他品种的狗拉进来当朋友。朋友圈被污染了，重合度计算自然就错了，对比学习也就跑偏了。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第二个问题更致命。我们请的翻译官BLIP-2，面对15种不同的狗，只会说'这是一只狗'。那这个翻译官还有什么用呢？所有的文本描述都一样，语义视角完全失效，SAC又退化成了纯视觉聚类，准确率自然暴跌。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找到问题后，我从工程角度进行了双重挽救。一方面，我把K值从20降到5，保证朋友圈的纯度。另一方面，我不再让BLIP-2随便说，而是像专家一样向它提问，命令它严格描述狗的细节。这一招非常有效，准确率从36%飙升到了51%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过程中，我还发现了一些代码与数学之间“反直觉”的交锋。比如，数学上要最大化熵，但代码里的优化器只会求最小值，所以我必须用一个负数来“骗”它。还有，论文里建议的KNN邻居数K=20，在我们的少样本数据上完全不适用，我必须把它改小才能让模型稳定下来。这些细节，数学组的同学根本不会注意到，但却是工程落地必须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最后，我的结论是，完美的数学理论，必须有可靠的工程架构和高质量的数据来支撑。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后续，我会继续在工程端努力，引入LLaVA这样的前沿模型，同时搭建更稳定的自动化算力流，支持更大规模的数据训练。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，我也想向各位理论组的同事发出诚挚邀请：我们目前发现，在少样本场景下，模型的权重计算依然比较脆弱。希望能和大家合作，基于我们的发现，共同设计一个全新的“知识对齐损失函数”，从数学上彻底解决知识固化与聚类稳定性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期待我们继续通力合作，攻克技术难关！谢谢大家。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23.svg"/><Relationship Id="rId16" Type="http://schemas.openxmlformats.org/officeDocument/2006/relationships/image" Target="../media/image22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image" Target="../media/image64.svg"/><Relationship Id="rId10" Type="http://schemas.openxmlformats.org/officeDocument/2006/relationships/image" Target="../media/image6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9.png"/><Relationship Id="rId6" Type="http://schemas.openxmlformats.org/officeDocument/2006/relationships/image" Target="../media/image68.jpe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image" Target="../media/image6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SAC聚类算法的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必备背景知识和代码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唐翊添</a:t>
            </a:r>
            <a:endParaRPr lang="zh-CN" altLang="en-US" sz="22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5842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先搞懂：我们到底在解决什么问题？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61B22">
              <a:alpha val="8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核心问题：无监督图像聚类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简单来说：给一堆</a:t>
            </a:r>
            <a:r>
              <a:rPr lang="en-US" sz="15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没标签的照片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，实现真正的“物以类聚”。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365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人类视角：靠「语义理解」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一眼就能分辨“这是猫、那是狗、那是飞机”，逻辑清晰。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381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机器视角：靠「像素距离」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将图片转化为一串数字，数字计算“距离近”就被归为同类。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5334000"/>
            <a:ext cx="4699000" cy="635000"/>
          </a:xfrm>
          <a:prstGeom prst="roundRect">
            <a:avLst>
              <a:gd name="adj" fmla="val 12000"/>
            </a:avLst>
          </a:prstGeom>
          <a:solidFill>
            <a:srgbClr val="DC2626">
              <a:alpha val="15000"/>
            </a:srgbClr>
          </a:solidFill>
          <a:ln w="12700" cap="flat" cmpd="sng">
            <a:solidFill>
              <a:srgbClr val="EF444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546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致命死穴：像素相似 ≠ 语义相似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61B22">
              <a:alpha val="8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经典反例：像素 vs 语义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l="5105" r="5105"/>
          <a:stretch>
            <a:fillRect/>
          </a:stretch>
        </p:blipFill>
        <p:spPr>
          <a:xfrm>
            <a:off x="6477000" y="2667000"/>
            <a:ext cx="2222500" cy="1651000"/>
          </a:xfrm>
          <a:prstGeom prst="roundRect">
            <a:avLst>
              <a:gd name="adj" fmla="val 6153"/>
            </a:avLst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l="5105" r="5105"/>
          <a:stretch>
            <a:fillRect/>
          </a:stretch>
        </p:blipFill>
        <p:spPr>
          <a:xfrm>
            <a:off x="8953500" y="2667000"/>
            <a:ext cx="2222500" cy="1651000"/>
          </a:xfrm>
          <a:prstGeom prst="roundRect">
            <a:avLst>
              <a:gd name="adj" fmla="val 6153"/>
            </a:avLst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477000" y="4572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雪地里的哈士奇 vs 雪地里的北极熊。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一眼看出是完全不同的两类动物。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电脑：</a:t>
            </a:r>
            <a:r>
              <a:rPr lang="en-US" sz="13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“白色背景 + 白色毛茸茸的主体”，直接分到了同一堆！</a:t>
            </a:r>
            <a:endParaRPr lang="en-US" sz="1300" b="0" i="0" u="none" strike="noStrike">
              <a:solidFill>
                <a:srgbClr val="F8717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前人踩过的坑：为什么之前的方法都不行？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手工特征时代 (SIFT)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思路：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人工设计"边缘"、"角点"等底层视觉特征。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局限：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灵活性差，仅能识别纹理简单、背景干净的物体。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35500" y="203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深度学习时代 (SCAN/CC)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思路：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通过深度神经网络，从海量数据中自动提取特征。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局限：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过度依赖图像像素信息，缺乏常识与推理能力。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778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318500" y="203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WordNet标签时代 (SIC/TAC)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思路：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从固定的层级词典中挑选词汇，对图像进行标注。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局限：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粒度太粗且僵化，无法区分"柴犬"与"哈士奇"等细节。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165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11827">
              <a:alpha val="95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397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270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核心痛点总结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大家都知道要引入外部语义知识，但过往的方法要么是纯手工特征太"笨"，要么是纯数据驱动缺乏推理太"死板"，要么是标签体系不够灵活导致"错误频出"。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SAC的核心灵感：请一个“双语翻译官”当外援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SAC 的本质：引入通用语义知识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VLM（视觉语言大模型）强大的通用语义理解能力，有效弥补传统无监督聚类算法中“监督信号缺失”的核心短板。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定义：精通“图像语”和“人类语”的 AI 翻译官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能力：理解图像内容，生成精准自然语言描述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特征空间的双重增强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635000"/>
          </a:xfrm>
          <a:prstGeom prst="roundRect">
            <a:avLst>
              <a:gd name="adj" fmla="val 12000"/>
            </a:avLst>
          </a:prstGeom>
          <a:solidFill>
            <a:srgbClr val="4B556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2794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传统模式：图像 ➔ 单一的视觉特征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429000"/>
            <a:ext cx="4699000" cy="635000"/>
          </a:xfrm>
          <a:prstGeom prst="roundRect">
            <a:avLst>
              <a:gd name="adj" fmla="val 12000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3556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SAC 模式：图像 + 文本描述 ➔ 视觉特征 + 文本特征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95000"/>
            </a:srgbClr>
          </a:solidFill>
          <a:ln w="12700" cap="flat" cmpd="sng">
            <a:solidFill>
              <a:srgbClr val="4B5563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l="18377" r="18377"/>
          <a:stretch>
            <a:fillRect/>
          </a:stretch>
        </p:blipFill>
        <p:spPr>
          <a:xfrm>
            <a:off x="7620000" y="4762500"/>
            <a:ext cx="3556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8895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BLIP-2 模型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BLIP-2 作为 SAC 的“首席翻译官”，负责将视觉信息转化为高质量的自然语言文本，为模型训练提供关键的、可理解的语义监督信号，让聚类结果更符合人类直觉。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新问题来了：外援也会犯错！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133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VLM 并非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无误</a:t>
            </a:r>
            <a:endParaRPr lang="zh-CN" alt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2921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它也会生成与事实不符的描述。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论文经典案例：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画面中女人站在电视旁，电视屏幕上清晰地显示着一只</a:t>
            </a:r>
            <a:r>
              <a:rPr lang="en-US" sz="1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企鹅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。但 BLIP-2 却只输出了：“a woman standing next to a TV”，完全</a:t>
            </a:r>
            <a:r>
              <a:rPr lang="en-US" sz="12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忽略了画面的核心主体——企鹅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！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15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207000" y="2133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盲从的严重后果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35500" y="2921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如果不加分辨地全盘相信，这些有偏差的描述</a:t>
            </a: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endParaRPr lang="en-US" sz="3600" b="1" i="0" u="none" strike="noStrike">
              <a:solidFill>
                <a:srgbClr val="FF634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2400"/>
              </a:spcBef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最终导致整个聚类分析结果被</a:t>
            </a:r>
            <a:r>
              <a:rPr lang="en-US" sz="1500" b="1" i="0" u="none" strike="noStrike">
                <a:solidFill>
                  <a:srgbClr val="FF63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带偏甚至完全失效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14191E">
              <a:alpha val="95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15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890000" y="2133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SAC 的核心课题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318500" y="3048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 SAC 必须攻克的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第二个关键问题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3500"/>
              </a:spcBef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怎么自动分辨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VLM说的话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是对是错？</a:t>
            </a:r>
            <a:endParaRPr lang="en-US" sz="2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3500"/>
              </a:spcBef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从“拿来主义”转向“去伪存真”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论文的核心创新点</a:t>
            </a: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：用“朋友圈重合度”判断对错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2098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844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核心直觉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“物以类聚，人以群分”。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基于这一朴素且深刻的社会法则，我们推断：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如果一段文本准确描述了一张图片，那么在特征空间中，它们各自的“朋友圈”大概率也属于同一个“圈子”。</a:t>
            </a:r>
            <a:endParaRPr lang="en-US" sz="14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2098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21844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判断逻辑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175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对每一个“图-文”对，分别构建K近邻“朋友圈”：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▍图像朋友圈：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在视觉特征空间中，与该图片最相似的K张图。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▍文本朋友圈：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在文本特征空间中，与该段描述最相似的K段文本。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2098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21844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最终结论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175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描述准确：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图像与文本的“朋友圈”高度重合，属于同一个群体。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4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描述错误：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两者的“朋友圈”几乎没有交集，完全属于不同的世界。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怎么让靠谱的话更有分量？加权对比学习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A202C">
              <a:alpha val="9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2413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传统对比学习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所有样本“一视同仁”，在模型训练中每个样本的“话语权”都完全一样，没有优先级之分。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2000"/>
              </a:spcBef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问题：错误样本与正确样本同等权重，容易带偏模型方向。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A202C">
              <a:alpha val="95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13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975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SAC：加权对比学习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429000"/>
            <a:ext cx="279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核心逻辑：“看人下菜碟”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靠谱样本 (朋友圈重合度高)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赋予高权重，主导模型训练方向。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不靠谱样本 (朋友圈重合度低)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赋予低权重，几乎不影响训练。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A202C">
              <a:alpha val="9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413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80500" y="2413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三大技术“保险绳”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429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双向对齐：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同一文本与图像样本，在两个模态的聚类结果必须一致。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平衡约束：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防止所有样本集中在少数几类，保证类别多样性。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冻结编码器：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仅训练最后的聚类头，显著降低显存占用。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工程准备：当算法复杂度遭遇物理算力瓶颈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215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理论与现实的第一道鸿沟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" y="2921000"/>
            <a:ext cx="635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3556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算法论文中看似优雅的</a:t>
            </a:r>
            <a:r>
              <a:rPr lang="en-US" sz="2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O(N^2)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时间复杂度，在落地时，往往直接转化为对硬件的极限考验。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在真实场景中，它不是一个抽象的数学符号，而是一道难以逾越的</a:t>
            </a:r>
            <a:r>
              <a:rPr lang="en-US" sz="20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GPU 显存墙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zh-CN" alt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所以一定需要使用云端服务器。</a:t>
            </a:r>
            <a:endParaRPr lang="zh-CN" alt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6477000" y="2032000"/>
            <a:ext cx="762000" cy="7620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7493000" y="2095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我的真实经历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17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3111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平台选择：控制成本的关键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对比主流云厂商后，最终选定 AutoDL 租用实例，大幅降低成本压力。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19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算力的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大模型训练热潮下，热门 RTX 4090</a:t>
            </a: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3090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显卡在白天几乎处于“无卡可用”的状态。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85000" y="5143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975" y="5397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400">
                <a:solidFill>
                  <a:schemeClr val="bg1"/>
                </a:solidFill>
                <a:ea typeface="宋体" panose="02010600030101010101" pitchFamily="2" charset="-122"/>
              </a:rPr>
              <a:t>代码复现与修改</a:t>
            </a:r>
            <a:endParaRPr lang="zh-CN" altLang="en-US" sz="44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02310" y="1680845"/>
            <a:ext cx="6350000" cy="1529715"/>
          </a:xfrm>
          <a:prstGeom prst="roundRect">
            <a:avLst>
              <a:gd name="adj" fmla="val 7058"/>
            </a:avLst>
          </a:prstGeom>
          <a:solidFill>
            <a:srgbClr val="1F2937">
              <a:alpha val="9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285" y="168084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48765" y="168084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最致命的坑：</a:t>
            </a:r>
            <a:r>
              <a:rPr lang="zh-CN" alt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代码不全与遗漏</a:t>
            </a:r>
            <a:endParaRPr lang="zh-CN" altLang="en-US" sz="19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56030" y="2286000"/>
            <a:ext cx="7916545" cy="18719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300" b="0" i="0" u="none" strike="noStrike">
              <a:solidFill>
                <a:srgbClr val="F8717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02310" y="3507105"/>
            <a:ext cx="6350635" cy="1524000"/>
          </a:xfrm>
          <a:prstGeom prst="roundRect">
            <a:avLst>
              <a:gd name="adj" fmla="val 10000"/>
            </a:avLst>
          </a:prstGeom>
          <a:solidFill>
            <a:srgbClr val="111827">
              <a:alpha val="95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672205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56030" y="362140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我的解决动作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5651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4" name="文本框 13"/>
          <p:cNvSpPr txBox="1"/>
          <p:nvPr/>
        </p:nvSpPr>
        <p:spPr>
          <a:xfrm>
            <a:off x="1488440" y="25527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学长学姐在</a:t>
            </a:r>
            <a:r>
              <a:rPr lang="en-US" altLang="zh-CN">
                <a:solidFill>
                  <a:schemeClr val="bg1"/>
                </a:solidFill>
              </a:rPr>
              <a:t>github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上的代码有缺失和遗漏</a:t>
            </a:r>
            <a:endParaRPr lang="zh-CN" altLang="en-US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61085" y="42297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跟着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随着终端的报错信息不断修改代码，不断调试</a:t>
            </a:r>
            <a:r>
              <a:rPr lang="en-US" altLang="zh-CN"/>
              <a:t>i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代码架构全景：四个文件搞定整个算法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扫清所有地雷之后，我把重构后的代码整理成了四个核心文件，每个文件只干一件事，逻辑非常清晰，各司其职。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2540000" cy="3683000"/>
          </a:xfrm>
          <a:prstGeom prst="roundRect">
            <a:avLst>
              <a:gd name="adj" fmla="val 4000"/>
            </a:avLst>
          </a:prstGeom>
          <a:solidFill>
            <a:srgbClr val="172554">
              <a:alpha val="90000"/>
            </a:srgbClr>
          </a:solidFill>
          <a:ln w="25400" cap="flat" cmpd="sng">
            <a:solidFill>
              <a:srgbClr val="39FF1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692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models.py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分堆计算器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将图像和文本的“GPS坐标”映射到聚类概率空间，输出“这张图属于每一类的概率”。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对应SAC原理：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双模态聚类头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2540000"/>
            <a:ext cx="2540000" cy="3683000"/>
          </a:xfrm>
          <a:prstGeom prst="roundRect">
            <a:avLst>
              <a:gd name="adj" fmla="val 4000"/>
            </a:avLst>
          </a:prstGeom>
          <a:solidFill>
            <a:srgbClr val="172554">
              <a:alpha val="90000"/>
            </a:srgbClr>
          </a:solidFill>
          <a:ln w="25400" cap="flat" cmpd="sng">
            <a:solidFill>
              <a:srgbClr val="39FF1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273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91000" y="2692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data_utils.py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330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👥 朋友圈管理员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46500" y="393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执行KNN算法，分别在视觉空间和文本空间，为每一个数据样本构建紧密的“朋友圈”。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746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对应SAC原理：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邻居图构建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540000"/>
            <a:ext cx="2540000" cy="3683000"/>
          </a:xfrm>
          <a:prstGeom prst="roundRect">
            <a:avLst>
              <a:gd name="adj" fmla="val 4000"/>
            </a:avLst>
          </a:prstGeom>
          <a:solidFill>
            <a:srgbClr val="172554">
              <a:alpha val="90000"/>
            </a:srgbClr>
          </a:solidFill>
          <a:ln w="25400" cap="flat" cmpd="sng">
            <a:solidFill>
              <a:srgbClr val="FFD700">
                <a:alpha val="9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73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692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loss_utils.py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330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🏃 训练指挥棒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393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完美实现了鲁棒对比损失、双向对齐损失和平衡损失，直接告诉模型“该往哪个方向学”。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对应SAC原理：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加权对比学习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17000" y="2540000"/>
            <a:ext cx="2540000" cy="3683000"/>
          </a:xfrm>
          <a:prstGeom prst="roundRect">
            <a:avLst>
              <a:gd name="adj" fmla="val 4000"/>
            </a:avLst>
          </a:prstGeom>
          <a:solidFill>
            <a:srgbClr val="172554">
              <a:alpha val="90000"/>
            </a:srgbClr>
          </a:solidFill>
          <a:ln w="25400" cap="flat" cmpd="sng">
            <a:solidFill>
              <a:srgbClr val="39FF14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2730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52000" y="2692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train_head.py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07500" y="330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🧑‍✈️ 训练总指挥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07500" y="393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管理整个训练大循环，调用Adam优化器进行反向传播，以及保存模型和记录日志。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07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对应SAC原理：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优化与训练流程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理想结果：STL-10上的完美复现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实验设置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0714" b="10714"/>
          <a:stretch>
            <a:fillRect/>
          </a:stretch>
        </p:blipFill>
        <p:spPr>
          <a:xfrm>
            <a:off x="952500" y="2794000"/>
            <a:ext cx="2921000" cy="1397000"/>
          </a:xfrm>
          <a:prstGeom prst="rect">
            <a:avLst/>
          </a:prstGeom>
          <a:noFill/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52500" y="4445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数据集: STL-10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5000 样本 | 10 大类 | 类间差异显著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35500" y="222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核心指标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 (准确率)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38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98.35%</a:t>
            </a:r>
            <a:endParaRPr lang="en-US" sz="3800" b="1" i="0" u="none" strike="noStrike">
              <a:solidFill>
                <a:srgbClr val="39FF1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35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NMI (归一化互信息)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95.77%</a:t>
            </a:r>
            <a:endParaRPr 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222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验证结论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这一近乎满分的成绩，有力证明了：</a:t>
            </a:r>
            <a:endParaRPr lang="en-US" sz="1100"/>
          </a:p>
          <a:p>
            <a:pPr indent="0" algn="just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原论文的数学框架在逻辑上是严密且正确的。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just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我重构后的代码，精准还原了数学公式，实现过程无任何计算误差。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5245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39FF1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71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从理论推导到代码落地的完美映射，为后续的优化升级打下了坚实基础 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边界崩溃：细粒度少样本下的“模态坍塌”</a:t>
            </a:r>
            <a:r>
              <a:rPr lang="zh-CN" alt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（数据集下载失误）</a:t>
            </a:r>
            <a:endParaRPr lang="zh-CN" altLang="en-US" sz="3200" b="1" i="0" u="none" strike="noStrike">
              <a:solidFill>
                <a:srgbClr val="39FF1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20242E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实验设置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20272" b="20272"/>
          <a:stretch>
            <a:fillRect/>
          </a:stretch>
        </p:blipFill>
        <p:spPr>
          <a:xfrm>
            <a:off x="1016000" y="2921000"/>
            <a:ext cx="2794000" cy="1524000"/>
          </a:xfrm>
          <a:prstGeom prst="rect">
            <a:avLst/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69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数据集：ImageNet-Dogs-15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类别：15种外观极度相似的犬种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规模：总样本19,500张，单类平均约1300张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挑战：细粒度分类与样本分布差异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20242E">
              <a:alpha val="90000"/>
            </a:srgbClr>
          </a:solidFill>
          <a:ln w="12700" cap="flat" cmpd="sng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228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残酷数据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36.77%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模型准确率 (ACC) 暴跌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同一套在标准数据集表现优异的代码，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在细粒度少样本场景下遭遇“滑铁卢”。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20242E">
              <a:alpha val="9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228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初步观察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0" y="3175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3149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分类严重同质化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所有不同品种的狗，几乎被模型强制归为了同一个类别。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4572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4546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特征学习失效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模型完全无法捕捉和学习到不同犬种之间的细微特征差异。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原因剖析一：K值的少样本灾难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066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第一个隐藏假设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论文中默认设定的</a:t>
            </a:r>
            <a:r>
              <a:rPr lang="en-US" sz="16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K=20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，在所有数据集上都具备合理性与普适性。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6985000" cy="2413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066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 K=20 在 ImageNet-Dogs 上失效？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647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STL-10 表现正常：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每类样本充足（500张），K=20 的邻居基本都是同类。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ImageNet-Dogs 发生混淆：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犬类间外观相似度极高，K=20 极易混入大量不同品种的“噪声邻居”。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严重后果：</a:t>
            </a:r>
            <a:r>
              <a:rPr lang="en-US" sz="1300" b="0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邻居图被严重污染 → 重合度计算错误 → 对比学习方向彻底偏离。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111827">
              <a:alpha val="95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26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47625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我的发现：K值不是越大越好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K值的设定应与数据集中的</a:t>
            </a:r>
            <a:r>
              <a:rPr lang="en-US" sz="16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单类样本数成正比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。在少样本场景下，若强行使用过大的K值，会直接破坏邻居图的纯度，导致模型无法学到有效特征。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原因剖析二：文本锚点丧失方差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1E232D">
              <a:alpha val="92000"/>
            </a:srgbClr>
          </a:solidFill>
          <a:ln w="254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387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第二个隐藏假设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4290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VLM 生成的文本描述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总是具有足够的</a:t>
            </a:r>
            <a:r>
              <a:rPr lang="en-US" sz="2000" b="1" i="0" u="none" strike="noStrike">
                <a:solidFill>
                  <a:srgbClr val="FF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区分度</a:t>
            </a: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1E232D">
              <a:alpha val="92000"/>
            </a:srgbClr>
          </a:solidFill>
          <a:ln w="254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413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387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真实情况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302000"/>
            <a:ext cx="444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 15 种不同的狗，BLIP-2 只会“复读机”般输出：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2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 photo of a dog”</a:t>
            </a:r>
            <a:endParaRPr lang="en-US" sz="2200" b="1" i="0" u="none" strike="noStrike">
              <a:solidFill>
                <a:srgbClr val="39FF1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所有文本描述趋于同质化，缺乏特征差异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文本特征在向量空间高度聚集，无法区分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语义视角完全失效，SAC 退化为纯视觉聚类</a:t>
            </a:r>
            <a:endParaRPr lang="en-US" sz="1400" b="0" i="0" u="none" strike="noStrike">
              <a:solidFill>
                <a:srgbClr val="B4BE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>
                <a:solidFill>
                  <a:schemeClr val="bg1"/>
                </a:solidFill>
                <a:ea typeface="宋体" panose="02010600030101010101" pitchFamily="2" charset="-122"/>
              </a:rPr>
              <a:t>参数修改与代码修改后的效果提升</a:t>
            </a:r>
            <a:endParaRPr lang="zh-CN" altLang="en-US" sz="32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413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策略一：缩小朋友圈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将推荐K值从20截断为</a:t>
            </a:r>
            <a:r>
              <a:rPr lang="en-US" sz="18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虽然视野变窄，但筛选出的都是真正的“自己人”。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朋友圈重合度计算重新回归准确。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413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策略二：精准指令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302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摒弃笼统的“看图说话”模式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注入</a:t>
            </a:r>
            <a:r>
              <a:rPr lang="en-US" sz="14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Expert Prompt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，强制描述细节：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1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“严格描述这只狗的耳型、吻部长度、毛色和体型”</a:t>
            </a:r>
            <a:endParaRPr lang="en-US" sz="1200" b="0" i="1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驱动BLIP-2生成细粒度描述，提升匹配精度。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9FF14">
                  <a:alpha val="15000"/>
                </a:srgbClr>
              </a:gs>
              <a:gs pos="100000">
                <a:srgbClr val="1F2937">
                  <a:alpha val="95000"/>
                </a:srgbClr>
              </a:gs>
            </a:gsLst>
            <a:lin ang="2700000"/>
          </a:gra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413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41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显著成效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 (ACC) 飙升至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44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51.18%</a:t>
            </a:r>
            <a:endParaRPr lang="en-US" sz="4400" b="1" i="0" u="none" strike="noStrike">
              <a:solidFill>
                <a:srgbClr val="39FF1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36.77% 绝对提升</a:t>
            </a:r>
            <a:r>
              <a:rPr lang="en-US" sz="16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14.41%</a:t>
            </a:r>
            <a:endParaRPr lang="en-US" sz="1600" b="1" i="0" u="none" strike="noStrike">
              <a:solidFill>
                <a:srgbClr val="FFD7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算法性能实现质的飞跃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数学与工程的反直觉交锋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那些数学公式里永远不会写的工程细节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51000" y="266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骗过优化器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556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数学理论：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目标函数要求“最大化信息熵”，以确保模型具有良好的泛化性。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代码限制：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主流框架（如 PyTorch）的优化器仅支持求极小值。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工程解法：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在损失函数前添加一个负号，将“最大化”问题巧妙转化为求“负熵”的最小值。</a:t>
            </a:r>
            <a:r>
              <a:rPr lang="zh-CN" alt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entropy_coeff=-4)</a:t>
            </a:r>
            <a:endParaRPr lang="en-US" altLang="zh-CN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223000" y="2413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66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112000" y="2667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K值的经验法则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6477000" y="3556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学术论文：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通用数据集通常推荐 K=20 作为最佳邻居数。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实战经验：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在少样本学习场景下，K 值设为“单类别样本总量的 5%~10%”时，模型表现最稳定。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总结：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这是通过上百次不同数据分布的实验总结出的“暗知识”，无法从纯数学推导得出。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结语与后续协作建议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1206500"/>
          </a:xfrm>
          <a:prstGeom prst="roundRect">
            <a:avLst>
              <a:gd name="adj" fmla="val 12631"/>
            </a:avLst>
          </a:prstGeom>
          <a:solidFill>
            <a:srgbClr val="171C26">
              <a:alpha val="9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26035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核心总结：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SAC算法本质上是“用大模型的通用语义知识，给无监督聚类当老师，同时又设计了一套机制，防止老师教错”。我的工作，就是让这个“老师”能在真实复杂的业务场景中，稳定、准确地“教书育人”。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937000"/>
            <a:ext cx="5080000" cy="2413000"/>
          </a:xfrm>
          <a:prstGeom prst="roundRect">
            <a:avLst>
              <a:gd name="adj" fmla="val 4210"/>
            </a:avLst>
          </a:prstGeom>
          <a:solidFill>
            <a:srgbClr val="1F2937">
              <a:alpha val="9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419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416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工程端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4826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持续搭建自动化算力流，提升数据处理与模型训练的效率上限。</a:t>
            </a:r>
            <a:b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引入 LLaVA 等更先进的视觉语言模型(VLM)，探索文本生成质量的新边界。</a:t>
            </a:r>
            <a:b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重构并优化底层代码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3937000"/>
            <a:ext cx="5080000" cy="2413000"/>
          </a:xfrm>
          <a:prstGeom prst="roundRect">
            <a:avLst>
              <a:gd name="adj" fmla="val 4210"/>
            </a:avLst>
          </a:prstGeom>
          <a:solidFill>
            <a:srgbClr val="1F2937">
              <a:alpha val="9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419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94500" y="416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算法端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4826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目前发现少样本场景下的权重计算逻辑依然较为脆弱。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能否基于当前的实验发现，共同设计一个全新的</a:t>
            </a:r>
            <a:r>
              <a:rPr lang="en-US" sz="1300" b="1" i="0" u="none" strike="noStrike">
                <a:solidFill>
                  <a:srgbClr val="39FF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“知识对齐损失函数”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，从数学根源上将大模型的先验知识，更稳定地固化为聚类的锚点？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8104" r="8104"/>
          <a:stretch>
            <a:fillRect/>
          </a:stretch>
        </p:blipFill>
        <p:spPr>
          <a:xfrm>
            <a:off x="9144000" y="4826000"/>
            <a:ext cx="1778000" cy="1397000"/>
          </a:xfrm>
          <a:prstGeom prst="roundRect">
            <a:avLst>
              <a:gd name="adj" fmla="val 5454"/>
            </a:avLst>
          </a:prstGeom>
          <a:noFill/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2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3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4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5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7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14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15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16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17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18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19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ags/tag20.xml><?xml version="1.0" encoding="utf-8"?>
<p:tagLst xmlns:p="http://schemas.openxmlformats.org/presentationml/2006/main">
  <p:tag name="KSO_WM_DIAGRAM_VIRTUALLY_FRAME" val="{&quot;height&quot;:290,&quot;left&quot;:60,&quot;top&quot;:19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4114</Words>
  <Application>WPS 演示</Application>
  <PresentationFormat/>
  <Paragraphs>292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WPS_1735047258</cp:lastModifiedBy>
  <cp:revision>2</cp:revision>
  <dcterms:created xsi:type="dcterms:W3CDTF">2026-05-16T16:54:08Z</dcterms:created>
  <dcterms:modified xsi:type="dcterms:W3CDTF">2026-05-16T16:56:38Z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02F6ECB08A1147A1ADF3F8570D3FA500_12</vt:lpwstr>
  </property>
</Properties>
</file>